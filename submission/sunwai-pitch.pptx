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48840"/>
            <a:ext cx="12191695" cy="30480"/>
          </a:xfrm>
          <a:prstGeom prst="rect">
            <a:avLst/>
          </a:prstGeom>
          <a:solidFill>
            <a:srgbClr val="1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40280"/>
            <a:ext cx="12191695" cy="12700"/>
          </a:xfrm>
          <a:prstGeom prst="rect">
            <a:avLst/>
          </a:prstGeom>
          <a:solidFill>
            <a:srgbClr val="1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14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6600" b="0" i="0">
                <a:solidFill>
                  <a:srgbClr val="1C2B4A"/>
                </a:solidFill>
                <a:latin typeface="Tiro Devanagari Hindi"/>
              </a:rPr>
              <a:t>सुनवाई </a:t>
            </a:r>
            <a:r>
              <a:rPr sz="3000" b="1" i="0">
                <a:solidFill>
                  <a:srgbClr val="5A6A86"/>
                </a:solidFill>
                <a:latin typeface="IBM Plex Sans"/>
              </a:rPr>
              <a:t>  sunwai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1C2B4A"/>
                </a:solidFill>
                <a:latin typeface="IBM Plex Sans"/>
              </a:rPr>
              <a:t>every voice, on the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5A6A86"/>
                </a:solidFill>
                <a:latin typeface="IBM Plex Sans"/>
              </a:rPr>
              <a:t>AI demand intelligence for an MP's office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447A0"/>
                </a:solidFill>
                <a:latin typeface="IBM Plex Mono"/>
              </a:rPr>
              <a:t>BUILD WITH AI: CODE FOR COMMUNITIES · TRACK 01 · PEOPLE'S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C1372A"/>
                </a:solidFill>
                <a:latin typeface="IBM Plex Sans"/>
              </a:rPr>
              <a:t>● </a:t>
            </a:r>
            <a:r>
              <a:rPr sz="1300" b="0" i="0">
                <a:solidFill>
                  <a:srgbClr val="1C2B4A"/>
                </a:solidFill>
                <a:latin typeface="Tiro Devanagari Hindi"/>
              </a:rPr>
              <a:t>दर्ज </a:t>
            </a:r>
            <a:r>
              <a:rPr sz="1200" b="1" i="0">
                <a:solidFill>
                  <a:srgbClr val="1C2B4A"/>
                </a:solidFill>
                <a:latin typeface="IBM Plex Mono"/>
              </a:rPr>
              <a:t>THE RECORD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447A0"/>
                </a:solidFill>
                <a:latin typeface="IBM Plex Mono"/>
              </a:rPr>
              <a:t>THE PROBLEM</a:t>
            </a:r>
            <a:r>
              <a:rPr sz="1200" b="0" i="0">
                <a:solidFill>
                  <a:srgbClr val="5A6A86"/>
                </a:solidFill>
                <a:latin typeface="IBM Plex Mono"/>
              </a:rPr>
              <a:t>   ·   PROBLEM–SOLUTION FIT · 20%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C2B4A"/>
                </a:solidFill>
                <a:latin typeface="IBM Plex Sans"/>
              </a:rPr>
              <a:t>An MP represents 25 lakh people.
The loudest voice wins.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C2B4A"/>
                </a:solidFill>
                <a:latin typeface="IBM Plex Sans"/>
              </a:rPr>
              <a:t>Needs arrive as letters, calls, social media, grievance portals, and lobbying —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C2B4A"/>
                </a:solidFill>
                <a:latin typeface="IBM Plex Sans"/>
              </a:rPr>
              <a:t>while the development plan holds dozens of competing proposals.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C2B4A"/>
                </a:solidFill>
                <a:latin typeface="IBM Plex Sans"/>
              </a:rPr>
              <a:t>There is no objective way to consolidate feedback, spot recurring needs,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1C2B4A"/>
                </a:solidFill>
                <a:latin typeface="IBM Plex Sans"/>
              </a:rPr>
              <a:t>and weigh proposals against real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6634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A6A86"/>
                </a:solidFill>
                <a:latin typeface="IBM Plex Sans"/>
              </a:rPr>
              <a:t>From the brief itself:  </a:t>
            </a:r>
            <a:r>
              <a:rPr sz="1600" b="1" i="1">
                <a:solidFill>
                  <a:srgbClr val="1C2B4A"/>
                </a:solidFill>
                <a:latin typeface="IBM Plex Sans"/>
              </a:rPr>
              <a:t>school upgrade or vocational centre — which does the constituency actually need?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9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B4A"/>
                </a:solidFill>
                <a:latin typeface="Tiro Devanagari Hindi"/>
              </a:rPr>
              <a:t>सुनवाई 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sunwai — every voice, on the record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          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447A0"/>
                </a:solidFill>
                <a:latin typeface="IBM Plex Mono"/>
              </a:rPr>
              <a:t>THE ANSWER, IN ONE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2B4A"/>
                </a:solidFill>
                <a:latin typeface="IBM Plex Sans"/>
              </a:rPr>
              <a:t>From a voice note to a defensible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400" b="1" i="0">
                <a:solidFill>
                  <a:srgbClr val="2447A0"/>
                </a:solidFill>
                <a:latin typeface="IBM Plex Mono"/>
              </a:rPr>
              <a:t>01  </a:t>
            </a:r>
            <a:r>
              <a:rPr sz="1550" b="0" i="0">
                <a:solidFill>
                  <a:srgbClr val="1C2B4A"/>
                </a:solidFill>
                <a:latin typeface="IBM Plex Sans"/>
              </a:rPr>
              <a:t>Voice note on WhatsApp — Hindi, no app, no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87752"/>
            <a:ext cx="10881360" cy="566928"/>
          </a:xfrm>
          <a:prstGeom prst="rect">
            <a:avLst/>
          </a:prstGeom>
          <a:solidFill>
            <a:srgbClr val="FAFAF7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400" b="1" i="0">
                <a:solidFill>
                  <a:srgbClr val="2447A0"/>
                </a:solidFill>
                <a:latin typeface="IBM Plex Mono"/>
              </a:rPr>
              <a:t>02  </a:t>
            </a:r>
            <a:r>
              <a:rPr sz="1550" b="0" i="0">
                <a:solidFill>
                  <a:srgbClr val="1C2B4A"/>
                </a:solidFill>
                <a:latin typeface="IBM Plex Sans"/>
              </a:rPr>
              <a:t>Gemini structures it: category · place · urgency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09544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400" b="1" i="0">
                <a:solidFill>
                  <a:srgbClr val="2447A0"/>
                </a:solidFill>
                <a:latin typeface="IBM Plex Mono"/>
              </a:rPr>
              <a:t>03  </a:t>
            </a:r>
            <a:r>
              <a:rPr sz="1550" b="0" i="0">
                <a:solidFill>
                  <a:srgbClr val="1C2B4A"/>
                </a:solidFill>
                <a:latin typeface="IBM Plex Sans"/>
              </a:rPr>
              <a:t>Clusters with 46 identical demands across 3 languages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831336"/>
            <a:ext cx="10881360" cy="566928"/>
          </a:xfrm>
          <a:prstGeom prst="rect">
            <a:avLst/>
          </a:prstGeom>
          <a:solidFill>
            <a:srgbClr val="FAFAF7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400" b="1" i="0">
                <a:solidFill>
                  <a:srgbClr val="2447A0"/>
                </a:solidFill>
                <a:latin typeface="IBM Plex Mono"/>
              </a:rPr>
              <a:t>04  </a:t>
            </a:r>
            <a:r>
              <a:rPr sz="1550" b="0" i="0">
                <a:solidFill>
                  <a:srgbClr val="1C2B4A"/>
                </a:solidFill>
                <a:latin typeface="IBM Plex Sans"/>
              </a:rPr>
              <a:t>Cross-checked against Census &amp; ward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453128"/>
            <a:ext cx="10881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400" b="1" i="0">
                <a:solidFill>
                  <a:srgbClr val="2447A0"/>
                </a:solidFill>
                <a:latin typeface="IBM Plex Mono"/>
              </a:rPr>
              <a:t>05  </a:t>
            </a:r>
            <a:r>
              <a:rPr sz="1550" b="0" i="0">
                <a:solidFill>
                  <a:srgbClr val="1C2B4A"/>
                </a:solidFill>
                <a:latin typeface="IBM Plex Sans"/>
              </a:rPr>
              <a:t>Ranked №1 with a written, cited justification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881360" cy="566928"/>
          </a:xfrm>
          <a:prstGeom prst="rect">
            <a:avLst/>
          </a:prstGeom>
          <a:solidFill>
            <a:srgbClr val="FAFAF7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400" b="1" i="0">
                <a:solidFill>
                  <a:srgbClr val="2447A0"/>
                </a:solidFill>
                <a:latin typeface="IBM Plex Mono"/>
              </a:rPr>
              <a:t>06  </a:t>
            </a:r>
            <a:r>
              <a:rPr sz="1550" b="0" i="0">
                <a:solidFill>
                  <a:srgbClr val="1C2B4A"/>
                </a:solidFill>
                <a:latin typeface="IBM Plex Sans"/>
              </a:rPr>
              <a:t>Tracked to RESOLVED on a public 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9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B4A"/>
                </a:solidFill>
                <a:latin typeface="Tiro Devanagari Hindi"/>
              </a:rPr>
              <a:t>सुनवाई 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sunwai — every voice, on the record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          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447A0"/>
                </a:solidFill>
                <a:latin typeface="IBM Plex Mono"/>
              </a:rPr>
              <a:t>LIVE DEMO</a:t>
            </a:r>
            <a:r>
              <a:rPr sz="1200" b="0" i="0">
                <a:solidFill>
                  <a:srgbClr val="5A6A86"/>
                </a:solidFill>
                <a:latin typeface="IBM Plex Mono"/>
              </a:rPr>
              <a:t>   ·   AI / TECHNICAL EXECUTION · 25%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1C2B4A"/>
                </a:solidFill>
                <a:latin typeface="IBM Plex Sans"/>
              </a:rPr>
              <a:t>सुनवाई,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881360" cy="3840480"/>
          </a:xfrm>
          <a:prstGeom prst="rect">
            <a:avLst/>
          </a:prstGeom>
          <a:solidFill>
            <a:srgbClr val="EEF2FB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2447A0"/>
                </a:solidFill>
                <a:latin typeface="IBM Plex Mono"/>
              </a:rPr>
              <a:t>SWITCH TO PRODUCT</a:t>
            </a:r>
          </a:p>
          <a:p>
            <a:pPr algn="ctr"/>
            <a:r>
              <a:rPr sz="1500" b="0" i="0">
                <a:solidFill>
                  <a:srgbClr val="1C2B4A"/>
                </a:solidFill>
                <a:latin typeface="IBM Plex Sans"/>
              </a:rPr>
              <a:t>voice note (no place named) → bot asks → voice answer → pinned on map
→ №1 evidence card → Silent Needs → public board → MP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6A86"/>
                </a:solidFill>
                <a:latin typeface="IBM Plex Mono"/>
              </a:rPr>
              <a:t>(fallback: recorded WhatsApp round-trip embedded behind this slide)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9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B4A"/>
                </a:solidFill>
                <a:latin typeface="Tiro Devanagari Hindi"/>
              </a:rPr>
              <a:t>सुनवाई 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sunwai — every voice, on the record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          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447A0"/>
                </a:solidFill>
                <a:latin typeface="IBM Plex Mono"/>
              </a:rPr>
              <a:t>AI IS THE ENGINE, NOT THE GARNISH</a:t>
            </a:r>
            <a:r>
              <a:rPr sz="1200" b="0" i="0">
                <a:solidFill>
                  <a:srgbClr val="5A6A86"/>
                </a:solidFill>
                <a:latin typeface="IBM Plex Mono"/>
              </a:rPr>
              <a:t>   ·   AI / TECHNICAL EXECUTION · 25%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C2B4A"/>
                </a:solidFill>
                <a:latin typeface="IBM Plex Sans"/>
              </a:rPr>
              <a:t>Four Gemini jobs. Remove any one
and the product stops working.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2447A0"/>
                </a:solidFill>
                <a:latin typeface="IBM Plex Mono"/>
              </a:rPr>
              <a:t>STRUCTURE  </a:t>
            </a:r>
            <a:r>
              <a:rPr sz="1600" b="0" i="0">
                <a:solidFill>
                  <a:srgbClr val="1C2B4A"/>
                </a:solidFill>
                <a:latin typeface="IBM Plex Sans"/>
              </a:rPr>
              <a:t>one multimodal call: transcribes Indic audio, reads photos, extracts category/place/urgency — schema-validated, noise rejected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2447A0"/>
                </a:solidFill>
                <a:latin typeface="IBM Plex Mono"/>
              </a:rPr>
              <a:t>CLUSTER  </a:t>
            </a:r>
            <a:r>
              <a:rPr sz="1600" b="0" i="0">
                <a:solidFill>
                  <a:srgbClr val="1C2B4A"/>
                </a:solidFill>
                <a:latin typeface="IBM Plex Sans"/>
              </a:rPr>
              <a:t>gemini-embedding-001 + pgvector: Hindi + English + Bangla phrasings of one drain become ONE demand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2447A0"/>
                </a:solidFill>
                <a:latin typeface="IBM Plex Mono"/>
              </a:rPr>
              <a:t>JUSTIFY  </a:t>
            </a:r>
            <a:r>
              <a:rPr sz="1600" b="0" i="0">
                <a:solidFill>
                  <a:srgbClr val="1C2B4A"/>
                </a:solidFill>
                <a:latin typeface="IBM Plex Sans"/>
              </a:rPr>
              <a:t>3-sentence briefs citing only supplied figures — cached by input hash, so unchanged reranks cost ₹0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2447A0"/>
                </a:solidFill>
                <a:latin typeface="IBM Plex Mono"/>
              </a:rPr>
              <a:t>CONVERSE  </a:t>
            </a:r>
            <a:r>
              <a:rPr sz="1600" b="0" i="0">
                <a:solidFill>
                  <a:srgbClr val="1C2B4A"/>
                </a:solidFill>
                <a:latin typeface="IBM Plex Sans"/>
              </a:rPr>
              <a:t>asks for the missing location; accepts the answer by voice; replies in the citizen's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9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B4A"/>
                </a:solidFill>
                <a:latin typeface="Tiro Devanagari Hindi"/>
              </a:rPr>
              <a:t>सुनवाई 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sunwai — every voice, on the record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          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447A0"/>
                </a:solidFill>
                <a:latin typeface="IBM Plex Mono"/>
              </a:rPr>
              <a:t>EVIDENCE, NOT VIBES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2B4A"/>
                </a:solidFill>
                <a:latin typeface="IBM Plex Sans"/>
              </a:rPr>
              <a:t>Every rank is defensible in public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108813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/>
            <a:r>
              <a:rPr sz="2000" b="1" i="0">
                <a:solidFill>
                  <a:srgbClr val="C1372A"/>
                </a:solidFill>
                <a:latin typeface="IBM Plex Mono"/>
              </a:rPr>
              <a:t>№ 1   </a:t>
            </a:r>
            <a:r>
              <a:rPr sz="2000" b="1" i="0">
                <a:solidFill>
                  <a:srgbClr val="1C2B4A"/>
                </a:solidFill>
                <a:latin typeface="IBM Plex Sans"/>
              </a:rPr>
              <a:t>Blocked drain in Govindpuri Street 4</a:t>
            </a:r>
          </a:p>
          <a:p>
            <a:pPr>
              <a:spcBef>
                <a:spcPts val="1000"/>
              </a:spcBef>
            </a:pPr>
            <a:r>
              <a:rPr sz="1500" b="1" i="0">
                <a:solidFill>
                  <a:srgbClr val="2447A0"/>
                </a:solidFill>
                <a:latin typeface="IBM Plex Mono"/>
              </a:rPr>
              <a:t>score 25.7  =  47 submissions × 1.4 trend × 2.1 evidence gap</a:t>
            </a:r>
          </a:p>
          <a:p>
            <a:pPr>
              <a:spcBef>
                <a:spcPts val="1000"/>
              </a:spcBef>
            </a:pPr>
            <a:r>
              <a:rPr sz="1300" b="0" i="0">
                <a:solidFill>
                  <a:srgbClr val="5A6A86"/>
                </a:solidFill>
                <a:latin typeface="IBM Plex Mono"/>
              </a:rPr>
              <a:t>— Ward population 74,651 (Census 2011; SEC Delimitation 2022, ward 176)
— SC population share 14.2% · unauthorized-regularized clusters</a:t>
            </a:r>
          </a:p>
          <a:p>
            <a:pPr>
              <a:spcBef>
                <a:spcPts val="1000"/>
              </a:spcBef>
            </a:pPr>
            <a:r>
              <a:rPr sz="1450" b="0" i="1">
                <a:solidFill>
                  <a:srgbClr val="1C2B4A"/>
                </a:solidFill>
                <a:latin typeface="IBM Plex Sans"/>
              </a:rPr>
              <a:t>The formula and the government data are on the screen — the MP can defend #1 over #7 to anyone.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9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B4A"/>
                </a:solidFill>
                <a:latin typeface="Tiro Devanagari Hindi"/>
              </a:rPr>
              <a:t>सुनवाई 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sunwai — every voice, on the record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          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447A0"/>
                </a:solidFill>
                <a:latin typeface="IBM Plex Mono"/>
              </a:rPr>
              <a:t>WHO ISN'T SPEAKING</a:t>
            </a:r>
            <a:r>
              <a:rPr sz="1200" b="0" i="0">
                <a:solidFill>
                  <a:srgbClr val="5A6A86"/>
                </a:solidFill>
                <a:latin typeface="IBM Plex Mono"/>
              </a:rPr>
              <a:t>   ·   INCLUSIVITY &amp; ACCESSIBILITY · 15%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500" b="1" i="0">
                <a:solidFill>
                  <a:srgbClr val="1C2B4A"/>
                </a:solidFill>
                <a:latin typeface="IBM Plex Sans"/>
              </a:rPr>
              <a:t>AI that listens is good.
AI that notices who isn't speaking is governance.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10881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28600"/>
          <a:lstStyle/>
          <a:p>
            <a:pPr algn="ctr"/>
            <a:r>
              <a:rPr sz="1800" b="1" i="0">
                <a:solidFill>
                  <a:srgbClr val="1C2B4A"/>
                </a:solidFill>
                <a:latin typeface="IBM Plex Mono"/>
              </a:rPr>
              <a:t>MADANGIR   </a:t>
            </a:r>
            <a:r>
              <a:rPr sz="1300" b="1" i="0">
                <a:solidFill>
                  <a:srgbClr val="C1372A"/>
                </a:solidFill>
                <a:latin typeface="IBM Plex Mono"/>
              </a:rPr>
              <a:t>suggest field visit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5A6A86"/>
                </a:solidFill>
                <a:latin typeface="IBM Plex Mono"/>
              </a:rPr>
              <a:t>44.5% SC population · resettlement colony · 0 submissions from 52,695 residents</a:t>
            </a:r>
          </a:p>
          <a:p>
            <a:pPr>
              <a:spcBef>
                <a:spcPts val="800"/>
              </a:spcBef>
            </a:pPr>
            <a:r>
              <a:rPr sz="1500" b="0" i="1">
                <a:solidFill>
                  <a:srgbClr val="1C2B4A"/>
                </a:solidFill>
                <a:latin typeface="IBM Plex Sans"/>
              </a:rPr>
              <a:t>silence = need × (1 − voice) — the unheard, not the unneeding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C2B4A"/>
                </a:solidFill>
                <a:latin typeface="IBM Plex Sans"/>
              </a:rPr>
              <a:t>Voice-first · any Indian language · photos for the non-literate · replies in the citizen's own language · works on any phone with WhatsApp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9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B4A"/>
                </a:solidFill>
                <a:latin typeface="Tiro Devanagari Hindi"/>
              </a:rPr>
              <a:t>सुनवाई 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sunwai — every voice, on the record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          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447A0"/>
                </a:solidFill>
                <a:latin typeface="IBM Plex Mono"/>
              </a:rPr>
              <a:t>DEPLOYABILITY &amp; COST</a:t>
            </a:r>
            <a:r>
              <a:rPr sz="1200" b="0" i="0">
                <a:solidFill>
                  <a:srgbClr val="5A6A86"/>
                </a:solidFill>
                <a:latin typeface="IBM Plex Mono"/>
              </a:rPr>
              <a:t>   ·   DEPLOYABILITY &amp; SCALABILITY · 25%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2B4A"/>
                </a:solidFill>
                <a:latin typeface="IBM Plex Sans"/>
              </a:rPr>
              <a:t>Running today on one ₹1,000/month VM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03120"/>
            <a:ext cx="254203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28600"/>
          <a:lstStyle/>
          <a:p>
            <a:pPr algn="ctr"/>
            <a:r>
              <a:rPr sz="4000" b="1" i="0">
                <a:solidFill>
                  <a:srgbClr val="2447A0"/>
                </a:solidFill>
                <a:latin typeface="IBM Plex Mono"/>
              </a:rPr>
              <a:t>5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C2B4A"/>
                </a:solidFill>
                <a:latin typeface="IBM Plex Sans"/>
              </a:rPr>
              <a:t>constituencies live —
Delhi, Kolkata, Ahmedabad,
Mumbai, Chennai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328415" y="2103120"/>
            <a:ext cx="254203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28600"/>
          <a:lstStyle/>
          <a:p>
            <a:pPr algn="ctr"/>
            <a:r>
              <a:rPr sz="4000" b="1" i="0">
                <a:solidFill>
                  <a:srgbClr val="2447A0"/>
                </a:solidFill>
                <a:latin typeface="IBM Plex Mono"/>
              </a:rPr>
              <a:t>7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C2B4A"/>
                </a:solidFill>
                <a:latin typeface="IBM Plex Sans"/>
              </a:rPr>
              <a:t>languages in production —
hi · en · bn · gu · mr · ta
+ romanized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16752" y="2103120"/>
            <a:ext cx="254203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28600"/>
          <a:lstStyle/>
          <a:p>
            <a:pPr algn="ctr"/>
            <a:r>
              <a:rPr sz="4000" b="1" i="0">
                <a:solidFill>
                  <a:srgbClr val="2447A0"/>
                </a:solidFill>
                <a:latin typeface="IBM Plex Mono"/>
              </a:rPr>
              <a:t>1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C2B4A"/>
                </a:solidFill>
                <a:latin typeface="IBM Plex Sans"/>
              </a:rPr>
              <a:t>config file to onboard
a new constituency —
shown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8705088" y="2103120"/>
            <a:ext cx="254203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228600"/>
          <a:lstStyle/>
          <a:p>
            <a:pPr algn="ctr"/>
            <a:r>
              <a:rPr sz="4000" b="1" i="0">
                <a:solidFill>
                  <a:srgbClr val="2447A0"/>
                </a:solidFill>
                <a:latin typeface="IBM Plex Mono"/>
              </a:rPr>
              <a:t>$5–15</a:t>
            </a:r>
          </a:p>
          <a:p>
            <a:pPr>
              <a:spcBef>
                <a:spcPts val="800"/>
              </a:spcBef>
            </a:pPr>
            <a:r>
              <a:rPr sz="1350" b="0" i="0">
                <a:solidFill>
                  <a:srgbClr val="1C2B4A"/>
                </a:solidFill>
                <a:latin typeface="IBM Plex Sans"/>
              </a:rPr>
              <a:t>per month, all-in Gemini
cost at pilot scale.
No apps. No hardware.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6A86"/>
                </a:solidFill>
                <a:latin typeface="IBM Plex Sans"/>
              </a:rPr>
              <a:t>Pilot-ready in a real constituency in 2 weeks. CI/CD, migrations, OSM map fallback — boring on purpose.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9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B4A"/>
                </a:solidFill>
                <a:latin typeface="Tiro Devanagari Hindi"/>
              </a:rPr>
              <a:t>सुनवाई 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sunwai — every voice, on the record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          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447A0"/>
                </a:solidFill>
                <a:latin typeface="IBM Plex Mono"/>
              </a:rPr>
              <a:t>TRANSPARENCY &amp;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77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2B4A"/>
                </a:solidFill>
                <a:latin typeface="IBM Plex Sans"/>
              </a:rPr>
              <a:t>The record the MP sees
is the record the public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2447A0"/>
                </a:solidFill>
                <a:latin typeface="IBM Plex Mono"/>
              </a:rPr>
              <a:t>PUBLIC BOARD  </a:t>
            </a:r>
            <a:r>
              <a:rPr sz="1600" b="0" i="0">
                <a:solidFill>
                  <a:srgbClr val="1C2B4A"/>
                </a:solidFill>
                <a:latin typeface="IBM Plex Sans"/>
              </a:rPr>
              <a:t>every issue: being heard → work in progress → resolved, with resident counts and dates — no login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2447A0"/>
                </a:solidFill>
                <a:latin typeface="IBM Plex Mono"/>
              </a:rPr>
              <a:t>PRIVACY  </a:t>
            </a:r>
            <a:r>
              <a:rPr sz="1600" b="0" i="0">
                <a:solidFill>
                  <a:srgbClr val="1C2B4A"/>
                </a:solidFill>
                <a:latin typeface="IBM Plex Sans"/>
              </a:rPr>
              <a:t>sender numbers hashed before storage; individuals never profiled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2447A0"/>
                </a:solidFill>
                <a:latin typeface="IBM Plex Mono"/>
              </a:rPr>
              <a:t>EQUITY  </a:t>
            </a:r>
            <a:r>
              <a:rPr sz="1600" b="0" i="0">
                <a:solidFill>
                  <a:srgbClr val="1C2B4A"/>
                </a:solidFill>
                <a:latin typeface="IBM Plex Sans"/>
              </a:rPr>
              <a:t>analysis is geographic and Census-based — MPLADS SC/ST mandates as a lens, not surveillance</a:t>
            </a:r>
          </a:p>
          <a:p>
            <a:pPr algn="l">
              <a:spcAft>
                <a:spcPts val="1400"/>
              </a:spcAft>
            </a:pPr>
            <a:r>
              <a:rPr sz="1500" b="1" i="0">
                <a:solidFill>
                  <a:srgbClr val="2447A0"/>
                </a:solidFill>
                <a:latin typeface="IBM Plex Mono"/>
              </a:rPr>
              <a:t>SOURCES  </a:t>
            </a:r>
            <a:r>
              <a:rPr sz="1600" b="0" i="0">
                <a:solidFill>
                  <a:srgbClr val="1C2B4A"/>
                </a:solidFill>
                <a:latin typeface="IBM Plex Sans"/>
              </a:rPr>
              <a:t>every fact on every card cites its government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9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B4A"/>
                </a:solidFill>
                <a:latin typeface="Tiro Devanagari Hindi"/>
              </a:rPr>
              <a:t>सुनवाई 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sunwai — every voice, on the record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          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30480"/>
          </a:xfrm>
          <a:prstGeom prst="rect">
            <a:avLst/>
          </a:prstGeom>
          <a:solidFill>
            <a:srgbClr val="1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2700"/>
          </a:xfrm>
          <a:prstGeom prst="rect">
            <a:avLst/>
          </a:prstGeom>
          <a:solidFill>
            <a:srgbClr val="1C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2447A0"/>
                </a:solidFill>
                <a:latin typeface="IBM Plex Mono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C2B4A"/>
                </a:solidFill>
                <a:latin typeface="IBM Plex Sans"/>
              </a:rPr>
              <a:t>Pilot sunwai in one constituency for 90 days.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1C2B4A"/>
                </a:solidFill>
                <a:latin typeface="IBM Plex Sans"/>
              </a:rPr>
              <a:t>Success metric: every rupee of the next MPLADS allocation traceable to ranked, evidenced public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1C2B4A"/>
                </a:solidFill>
                <a:latin typeface="Tiro Devanagari Hindi"/>
              </a:rPr>
              <a:t>सुनवाई — हर आवाज़ दर्ज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447A0"/>
                </a:solidFill>
                <a:latin typeface="IBM Plex Mono"/>
              </a:rPr>
              <a:t>dashboard 168.144.24.204:8082  ·  public board /board  ·  github.com/noblenihal/sunwai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5240"/>
          </a:xfrm>
          <a:prstGeom prst="rect">
            <a:avLst/>
          </a:prstGeom>
          <a:solidFill>
            <a:srgbClr val="D9D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C2B4A"/>
                </a:solidFill>
                <a:latin typeface="Tiro Devanagari Hindi"/>
              </a:rPr>
              <a:t>सुनवाई 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sunwai — every voice, on the record</a:t>
            </a:r>
            <a:r>
              <a:rPr sz="1050" b="0" i="0">
                <a:solidFill>
                  <a:srgbClr val="5A6A86"/>
                </a:solidFill>
                <a:latin typeface="IBM Plex Mono"/>
              </a:rPr>
              <a:t>        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